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30DC44-0CF5-03E0-2201-FE3F9D945C0A}" v="2" dt="2026-01-04T23:15:31.6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7ECCC-5D9A-42C9-9EFC-9147B9FD70A9}" type="datetimeFigureOut"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56795-C80C-4117-83DE-82A17F44C7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23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1a395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1085850"/>
            <a:ext cx="39930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MedVoice AI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62000" y="1847850"/>
            <a:ext cx="519779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 AI Phone Receptionist for Medical Clinics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62000" y="2482751"/>
            <a:ext cx="56349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spcAft>
                <a:spcPts val="3000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technical blueprint for building a production ready voice AI system that handles appointment booking, FAQs, and safe patient routing in French and English.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762000" y="4404420"/>
            <a:ext cx="1421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62000" y="4575870"/>
            <a:ext cx="1421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Quebec Medical Clinics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536478" y="4404420"/>
            <a:ext cx="11242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536478" y="4575870"/>
            <a:ext cx="11242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| January 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019699" y="4404420"/>
            <a:ext cx="10940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019699" y="4575870"/>
            <a:ext cx="10940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Team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Overview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59055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building and why it matters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378446"/>
            <a:ext cx="3424386" cy="984796"/>
          </a:xfrm>
          <a:prstGeom prst="roundRect">
            <a:avLst>
              <a:gd name="adj" fmla="val 773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378446"/>
            <a:ext cx="0" cy="984796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1511796"/>
            <a:ext cx="31819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52450" y="1715542"/>
            <a:ext cx="318197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Quebec clinics lose 30 to 40 percent of inbound calls to voicemail. Patients wait on hold, staff are overwhelmed, and after hours calls go unanswered.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496592"/>
            <a:ext cx="3424386" cy="984796"/>
          </a:xfrm>
          <a:prstGeom prst="roundRect">
            <a:avLst>
              <a:gd name="adj" fmla="val 773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496592"/>
            <a:ext cx="0" cy="984796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2450" y="2629942"/>
            <a:ext cx="31819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52450" y="2833688"/>
            <a:ext cx="318197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voice agent that answers calls instantly in French or English, books appointments directly into the clinic calendar, and routes urgent cases to humans.</a:t>
            </a:r>
            <a:endParaRPr lang="en-US" sz="900" dirty="0"/>
          </a:p>
        </p:txBody>
      </p:sp>
      <p:pic>
        <p:nvPicPr>
          <p:cNvPr id="12" name="Image 0" descr="/tmp/rasterized-gradient-8c72b4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614738"/>
            <a:ext cx="3424386" cy="99015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4350" y="3748087"/>
            <a:ext cx="32208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14350" y="3951833"/>
            <a:ext cx="3220840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language handling per turn. Patients can switch between French and English mid conversation naturally.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4033986" y="1755577"/>
            <a:ext cx="48235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033986" y="1997422"/>
            <a:ext cx="2316956" cy="679996"/>
          </a:xfrm>
          <a:prstGeom prst="roundRect">
            <a:avLst>
              <a:gd name="adj" fmla="val 84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148286" y="2111722"/>
            <a:ext cx="21301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Booking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148286" y="2296418"/>
            <a:ext cx="21301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Book, reschedule, cancel with real time calendar sync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446193" y="2064097"/>
            <a:ext cx="2316956" cy="546646"/>
          </a:xfrm>
          <a:prstGeom prst="roundRect">
            <a:avLst>
              <a:gd name="adj" fmla="val 1045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560493" y="2178397"/>
            <a:ext cx="21301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Handling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560493" y="2363093"/>
            <a:ext cx="21301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Hours, location, services, parking, forms, fees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033986" y="2772668"/>
            <a:ext cx="2316956" cy="679996"/>
          </a:xfrm>
          <a:prstGeom prst="roundRect">
            <a:avLst>
              <a:gd name="adj" fmla="val 84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148286" y="2886968"/>
            <a:ext cx="21301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Routing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148286" y="3071664"/>
            <a:ext cx="21301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symptoms trigger immediate human transfer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446193" y="2772668"/>
            <a:ext cx="2316956" cy="679996"/>
          </a:xfrm>
          <a:prstGeom prst="roundRect">
            <a:avLst>
              <a:gd name="adj" fmla="val 84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560493" y="2886968"/>
            <a:ext cx="21301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Creation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6560493" y="3071664"/>
            <a:ext cx="21301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tickets when requests cannot be completed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033986" y="3614589"/>
            <a:ext cx="2316956" cy="546646"/>
          </a:xfrm>
          <a:prstGeom prst="roundRect">
            <a:avLst>
              <a:gd name="adj" fmla="val 1045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148286" y="3728889"/>
            <a:ext cx="21301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Voice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148286" y="3913584"/>
            <a:ext cx="21301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French and English with accent handling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446193" y="3547914"/>
            <a:ext cx="2316956" cy="679996"/>
          </a:xfrm>
          <a:prstGeom prst="roundRect">
            <a:avLst>
              <a:gd name="adj" fmla="val 84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560493" y="3662214"/>
            <a:ext cx="21301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Console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6560493" y="3846909"/>
            <a:ext cx="21301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transcripts, booking logs, analytics dashboard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59055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 voice pipeline from call to calendar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049536"/>
            <a:ext cx="1428750" cy="317777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063823"/>
            <a:ext cx="1428750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6250" y="2139404"/>
            <a:ext cx="12630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TELEPHONY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76250" y="2468910"/>
            <a:ext cx="1238250" cy="24765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526060"/>
            <a:ext cx="1146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Voice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6250" y="2926110"/>
            <a:ext cx="126301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routing, media streaming, call transfer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1866900" y="2545110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57400" y="1049536"/>
            <a:ext cx="1428750" cy="317777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057400" y="1063823"/>
            <a:ext cx="1428750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2650" y="2145060"/>
            <a:ext cx="12630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VOICE I/O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2152650" y="2474565"/>
            <a:ext cx="1238250" cy="24765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09800" y="2531715"/>
            <a:ext cx="1146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Deepgram ASR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52650" y="2912715"/>
            <a:ext cx="1238250" cy="24765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09800" y="2969865"/>
            <a:ext cx="1146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TTS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543300" y="2545110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33800" y="1049536"/>
            <a:ext cx="1676400" cy="3177778"/>
          </a:xfrm>
          <a:prstGeom prst="roundRect">
            <a:avLst>
              <a:gd name="adj" fmla="val 340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733800" y="1063823"/>
            <a:ext cx="1676400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9050" y="2208907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CORE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829050" y="2538413"/>
            <a:ext cx="1485900" cy="24765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86200" y="2595563"/>
            <a:ext cx="1399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50"/>
              </a:lnSpc>
            </a:pPr>
            <a:r>
              <a:rPr lang="en-US" sz="750" b="1">
                <a:solidFill>
                  <a:srgbClr val="F8FAFC"/>
                </a:solidFill>
                <a:latin typeface="Arial"/>
                <a:cs typeface="Arial"/>
              </a:rPr>
              <a:t>Open Source LLM</a:t>
            </a: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29050" y="2976563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Intent, slots, dialog, safety, responses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467350" y="2545110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57850" y="1049536"/>
            <a:ext cx="1428750" cy="317777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657850" y="1063823"/>
            <a:ext cx="1428750" cy="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53100" y="2148929"/>
            <a:ext cx="12630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ADAPTER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753100" y="2478435"/>
            <a:ext cx="1238250" cy="24765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810250" y="2535585"/>
            <a:ext cx="1146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API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753100" y="2916585"/>
            <a:ext cx="126301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listSlots, createBooking, cancelBooking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7143750" y="2545110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34250" y="1049536"/>
            <a:ext cx="1428750" cy="317777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7334250" y="1063823"/>
            <a:ext cx="1428750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29500" y="1984177"/>
            <a:ext cx="12630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BACKENDS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7429500" y="2313682"/>
            <a:ext cx="1238250" cy="215205"/>
          </a:xfrm>
          <a:prstGeom prst="roundRect">
            <a:avLst>
              <a:gd name="adj" fmla="val 1770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477125" y="2361307"/>
            <a:ext cx="11658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7429500" y="2709863"/>
            <a:ext cx="1238250" cy="215205"/>
          </a:xfrm>
          <a:prstGeom prst="roundRect">
            <a:avLst>
              <a:gd name="adj" fmla="val 1770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477125" y="2757488"/>
            <a:ext cx="11658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365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7429500" y="3106043"/>
            <a:ext cx="1238250" cy="215205"/>
          </a:xfrm>
          <a:prstGeom prst="roundRect">
            <a:avLst>
              <a:gd name="adj" fmla="val 1770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477125" y="3153668"/>
            <a:ext cx="11658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Fallback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381000" y="4360664"/>
            <a:ext cx="8382000" cy="592336"/>
          </a:xfrm>
          <a:prstGeom prst="roundRect">
            <a:avLst>
              <a:gd name="adj" fmla="val 9648"/>
            </a:avLst>
          </a:prstGeom>
          <a:solidFill>
            <a:srgbClr val="0D9488">
              <a:alpha val="10000"/>
            </a:srgbClr>
          </a:solidFill>
          <a:ln w="9525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04825" y="4484489"/>
            <a:ext cx="82970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Architecture Principle: Conversation logic NEVER calls backend systems directly. All external calls go through the Universal Adapter.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4825" y="4682579"/>
            <a:ext cx="8297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allows swapping calendar providers, adding EMR integrations, or falling back to ticket creation without changing AI dialog code.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first approach — self hostable, no vendor lock in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946696"/>
            <a:ext cx="8382000" cy="3313063"/>
          </a:xfrm>
          <a:prstGeom prst="roundRect">
            <a:avLst>
              <a:gd name="adj" fmla="val 23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928836"/>
            <a:ext cx="8382000" cy="23425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985986"/>
            <a:ext cx="12560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879104" y="985986"/>
            <a:ext cx="17270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724721" y="985986"/>
            <a:ext cx="17270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570339" y="985986"/>
            <a:ext cx="31400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381000" y="1548854"/>
            <a:ext cx="83820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300" y="1363117"/>
            <a:ext cx="1256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Telephony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879104" y="1363117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Voice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724721" y="1363117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Telnyx, Vonage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570339" y="1369814"/>
            <a:ext cx="31400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streams API, CA numbers, best docs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381000" y="1939379"/>
            <a:ext cx="83820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300" y="1753642"/>
            <a:ext cx="1256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to Text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879104" y="1753642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Whisper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724721" y="1753642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Deepgram, WhisperX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570339" y="1760339"/>
            <a:ext cx="31400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hosted, whisper large v3, good fr CA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381000" y="2329904"/>
            <a:ext cx="83820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300" y="2144167"/>
            <a:ext cx="1256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to Speech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79104" y="2144167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Coqui XTTS v2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724721" y="2144167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Piper TTS, Azure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570339" y="2150864"/>
            <a:ext cx="31400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voice cloning, multilingual</a:t>
            </a:r>
            <a:endParaRPr lang="en-US" sz="675" dirty="0"/>
          </a:p>
        </p:txBody>
      </p:sp>
      <p:sp>
        <p:nvSpPr>
          <p:cNvPr id="25" name="Shape 23"/>
          <p:cNvSpPr/>
          <p:nvPr/>
        </p:nvSpPr>
        <p:spPr>
          <a:xfrm>
            <a:off x="381000" y="2720429"/>
            <a:ext cx="83820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300" y="2534692"/>
            <a:ext cx="1256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Brain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79104" y="2534692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 K2 (1T MoE)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24721" y="2534692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2.5 72B, Llama 3.3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570339" y="2541389"/>
            <a:ext cx="31400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2.0, best tool calling, self hosted vLLM</a:t>
            </a:r>
            <a:endParaRPr lang="en-US" sz="675" dirty="0"/>
          </a:p>
        </p:txBody>
      </p:sp>
      <p:sp>
        <p:nvSpPr>
          <p:cNvPr id="30" name="Shape 28"/>
          <p:cNvSpPr/>
          <p:nvPr/>
        </p:nvSpPr>
        <p:spPr>
          <a:xfrm>
            <a:off x="381000" y="3110954"/>
            <a:ext cx="83820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300" y="2925217"/>
            <a:ext cx="1256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879104" y="2925217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 on GPU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724721" y="2925217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SGLang, TGI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570339" y="2931914"/>
            <a:ext cx="31400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H100/A100 prod, L40S dev, OpenAI compat API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381000" y="3501479"/>
            <a:ext cx="83820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300" y="3315742"/>
            <a:ext cx="1256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879104" y="3315742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 API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724721" y="3315742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Graph API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570339" y="3322439"/>
            <a:ext cx="31400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OAuth, faster demo setup</a:t>
            </a:r>
            <a:endParaRPr lang="en-US" sz="675" dirty="0"/>
          </a:p>
        </p:txBody>
      </p:sp>
      <p:sp>
        <p:nvSpPr>
          <p:cNvPr id="40" name="Shape 38"/>
          <p:cNvSpPr/>
          <p:nvPr/>
        </p:nvSpPr>
        <p:spPr>
          <a:xfrm>
            <a:off x="381000" y="3892004"/>
            <a:ext cx="83820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300" y="3706267"/>
            <a:ext cx="1256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879104" y="3706267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FastAPI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724721" y="3706267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Fastify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0339" y="3712964"/>
            <a:ext cx="31400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ML ecosystem, async, OpenAI SDK compat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495300" y="4096792"/>
            <a:ext cx="1256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79104" y="4096792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ca central 1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724721" y="4096792"/>
            <a:ext cx="172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 Montreal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0339" y="4103489"/>
            <a:ext cx="31400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Canadian data residency, GPU instances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381000" y="4335959"/>
            <a:ext cx="2038350" cy="426541"/>
          </a:xfrm>
          <a:prstGeom prst="roundRect">
            <a:avLst>
              <a:gd name="adj" fmla="val 133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18910" y="4393109"/>
            <a:ext cx="196253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Aft>
                <a:spcPts val="150"/>
              </a:spcAft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CALL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18910" y="4518720"/>
            <a:ext cx="19625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~$0.02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495550" y="4335959"/>
            <a:ext cx="2038350" cy="426541"/>
          </a:xfrm>
          <a:prstGeom prst="roundRect">
            <a:avLst>
              <a:gd name="adj" fmla="val 133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533460" y="4393109"/>
            <a:ext cx="196253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Aft>
                <a:spcPts val="150"/>
              </a:spcAft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INFRA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2533460" y="4518720"/>
            <a:ext cx="19625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~$2.5K/mo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610100" y="4335959"/>
            <a:ext cx="2038350" cy="426541"/>
          </a:xfrm>
          <a:prstGeom prst="roundRect">
            <a:avLst>
              <a:gd name="adj" fmla="val 133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648010" y="4393109"/>
            <a:ext cx="196253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Aft>
                <a:spcPts val="150"/>
              </a:spcAft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4648010" y="4518720"/>
            <a:ext cx="19625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p95 800ms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724650" y="4335959"/>
            <a:ext cx="2038350" cy="426541"/>
          </a:xfrm>
          <a:prstGeom prst="roundRect">
            <a:avLst>
              <a:gd name="adj" fmla="val 133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762560" y="4393109"/>
            <a:ext cx="196253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Aft>
                <a:spcPts val="150"/>
              </a:spcAft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EVEN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6762560" y="4518720"/>
            <a:ext cx="19625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 calls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 Design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59055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taxonomy and dialog flow specifications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237506"/>
            <a:ext cx="3759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INTENTS (MVP)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1000" y="1447056"/>
            <a:ext cx="3686175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1542306"/>
            <a:ext cx="3565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book_appointment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76250" y="1707952"/>
            <a:ext cx="3565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Slots: date, time, provider, visit type, patient name, phone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2012752"/>
            <a:ext cx="3686175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2108002"/>
            <a:ext cx="3565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reschedule_appointment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76250" y="2273647"/>
            <a:ext cx="3565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Slots: existing booking ref, new date, new time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1000" y="2578447"/>
            <a:ext cx="3686175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" y="2673697"/>
            <a:ext cx="3565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cancel_appointment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76250" y="2839343"/>
            <a:ext cx="3565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Slots: booking ref, cancellation reason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1000" y="3144143"/>
            <a:ext cx="3686175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250" y="3239393"/>
            <a:ext cx="3565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faq_query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76250" y="3405039"/>
            <a:ext cx="3565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Subtypes: hours, location, parking, services, fees, forms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1000" y="3709839"/>
            <a:ext cx="3686175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250" y="3805089"/>
            <a:ext cx="3565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prescription_refill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76250" y="3970734"/>
            <a:ext cx="3565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Slots: medication name, pharmacy, patient DOB (capture only)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81000" y="4275534"/>
            <a:ext cx="3686175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6250" y="4370784"/>
            <a:ext cx="3565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urgent_medical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76250" y="4536430"/>
            <a:ext cx="3565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symptom keywords lead to IMMEDIATE transfer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57675" y="1226939"/>
            <a:ext cx="45954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 RULES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257675" y="1455539"/>
            <a:ext cx="4505325" cy="718096"/>
          </a:xfrm>
          <a:prstGeom prst="roundRect">
            <a:avLst>
              <a:gd name="adj" fmla="val 79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71975" y="1569839"/>
            <a:ext cx="43622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Handling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371975" y="1773585"/>
            <a:ext cx="4362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language on first utterance. Mirror caller language per turn. Handle mid conversation switches gracefully. Default greeting is French for Quebec context.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257675" y="2268885"/>
            <a:ext cx="4505325" cy="718096"/>
          </a:xfrm>
          <a:prstGeom prst="roundRect">
            <a:avLst>
              <a:gd name="adj" fmla="val 79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371975" y="2383185"/>
            <a:ext cx="43622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Filling Strategy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371975" y="2586930"/>
            <a:ext cx="4362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ONE slot per turn maximum. Offer 3 time slot options, not open ended. Confirm all slots before booking. Identity verification requires DOB plus postal code for changes.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57675" y="3082230"/>
            <a:ext cx="4505325" cy="718096"/>
          </a:xfrm>
          <a:prstGeom prst="roundRect">
            <a:avLst>
              <a:gd name="adj" fmla="val 79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371975" y="3196530"/>
            <a:ext cx="43622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371975" y="3400276"/>
            <a:ext cx="4362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input timeout is 5 seconds then reprompt. No match leads to rephrase once then offer alternatives. Three consecutive failures triggers transfer to human. Barge in is always allowed.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257675" y="3895576"/>
            <a:ext cx="4505325" cy="880021"/>
          </a:xfrm>
          <a:prstGeom prst="roundRect">
            <a:avLst>
              <a:gd name="adj" fmla="val 6494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81500" y="4019401"/>
            <a:ext cx="43428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SAFETY RULES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381500" y="4223147"/>
            <a:ext cx="434282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give medical advice or diagnosis. NEVER suggest medication dosages. Urgent terms like chest pain, bleeding, cannot breathe trigger instant transfer. Requests to speak to a person are always honored immediately.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 Adapter API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59055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layer between AI and backend systems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237506"/>
            <a:ext cx="45954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CONTRACT (TOOL SCHEMA FOR LLM)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1000" y="1447056"/>
            <a:ext cx="4505325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1542306"/>
            <a:ext cx="44011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listSlots(provider_id?, date_range, visit_type)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76250" y="1707952"/>
            <a:ext cx="4401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Returns: Array of slot_id, datetime, provider_name, duration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2012752"/>
            <a:ext cx="4505325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2108002"/>
            <a:ext cx="44011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createReservation(slot_id, patient_info, ttl_minutes)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76250" y="2273647"/>
            <a:ext cx="4401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Returns: reservation_id, expires_at for temp hold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1000" y="2578447"/>
            <a:ext cx="4505325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" y="2673697"/>
            <a:ext cx="44011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confirmBooking(reservation_id, patient_phone)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76250" y="2839343"/>
            <a:ext cx="4401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Returns: booking_id, confirmation_number, calendar_event_id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1000" y="3144143"/>
            <a:ext cx="4505325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250" y="3239393"/>
            <a:ext cx="44011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updateBooking(booking_id, new_slot_id, verified)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76250" y="3405039"/>
            <a:ext cx="4401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Returns: success, new_confirmation. Requires identity check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1000" y="3709839"/>
            <a:ext cx="4505325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250" y="3805089"/>
            <a:ext cx="44011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cancelBooking(booking_id, reason, verified)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76250" y="3970734"/>
            <a:ext cx="4401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Returns: success, cancellation_ref. Requires identity check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81000" y="4275534"/>
            <a:ext cx="4505325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6250" y="4370784"/>
            <a:ext cx="44011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createTask(type, patient_info, message, priority)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76250" y="4536430"/>
            <a:ext cx="4401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Returns: task_id. Fallback when booking fails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76825" y="1014413"/>
            <a:ext cx="3759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IMPLEMENTATIONS</a:t>
            </a:r>
            <a:endParaRPr lang="en-US" sz="750" dirty="0"/>
          </a:p>
        </p:txBody>
      </p:sp>
      <p:pic>
        <p:nvPicPr>
          <p:cNvPr id="24" name="Image 0" descr="/tmp/rasterized-gradient-c3838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825" y="1243013"/>
            <a:ext cx="3686175" cy="8648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191125" y="1357313"/>
            <a:ext cx="35267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0: DEMO/MVP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191125" y="1528763"/>
            <a:ext cx="35267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 Connector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191125" y="1726853"/>
            <a:ext cx="35267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Calendar API integration. Single calendar per clinic. OAuth2 service account auth. BUILD THIS FIRST.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076825" y="2203103"/>
            <a:ext cx="3686175" cy="864840"/>
          </a:xfrm>
          <a:prstGeom prst="roundRect">
            <a:avLst>
              <a:gd name="adj" fmla="val 660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191125" y="2317403"/>
            <a:ext cx="35267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PILOT CLINICS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191125" y="2488853"/>
            <a:ext cx="35267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365 and Booking Vendor APIs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191125" y="2686943"/>
            <a:ext cx="35267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API for Microsoft shops. Add connectors for Jane App, Cliniko as pilots require.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5076825" y="3163193"/>
            <a:ext cx="3686175" cy="864840"/>
          </a:xfrm>
          <a:prstGeom prst="roundRect">
            <a:avLst>
              <a:gd name="adj" fmla="val 660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191125" y="3277493"/>
            <a:ext cx="35267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FALLBACK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191125" y="3448943"/>
            <a:ext cx="35267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and Email Connector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191125" y="3647033"/>
            <a:ext cx="35267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no API exists, create structured email or webhook to staff. Always available fallback.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076825" y="4123283"/>
            <a:ext cx="3686175" cy="864840"/>
          </a:xfrm>
          <a:prstGeom prst="roundRect">
            <a:avLst>
              <a:gd name="adj" fmla="val 660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191125" y="4237583"/>
            <a:ext cx="35267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PHASE 2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191125" y="4409033"/>
            <a:ext cx="35267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EMR and FHIR Connector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191125" y="4607123"/>
            <a:ext cx="35267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Medesync, OSCAR, Telus Health. Requires healthcare API access. Not MVP scope.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571500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week MVP build with demo milestones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28600" y="839986"/>
            <a:ext cx="2114550" cy="3271093"/>
          </a:xfrm>
          <a:prstGeom prst="roundRect">
            <a:avLst>
              <a:gd name="adj" fmla="val 36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8600" y="859036"/>
            <a:ext cx="211455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" y="992386"/>
            <a:ext cx="1923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2900" y="1297186"/>
            <a:ext cx="19236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42900" y="1679972"/>
            <a:ext cx="19236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setup, Media streaming, Deepgram ASR, Azure TTS, Call state machine, Logging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2900" y="3876824"/>
            <a:ext cx="19236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Calls connect, audio streams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2419350" y="839986"/>
            <a:ext cx="2114550" cy="3271093"/>
          </a:xfrm>
          <a:prstGeom prst="roundRect">
            <a:avLst>
              <a:gd name="adj" fmla="val 36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419350" y="859036"/>
            <a:ext cx="211455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3650" y="992386"/>
            <a:ext cx="1923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3-4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33650" y="1297186"/>
            <a:ext cx="19236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533650" y="1679972"/>
            <a:ext cx="19236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integration, Intent/slot extraction, Bilingual dialog, Safety classifier, Turn-taking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33650" y="3876824"/>
            <a:ext cx="19236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Conversations work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610100" y="839986"/>
            <a:ext cx="2114550" cy="3271093"/>
          </a:xfrm>
          <a:prstGeom prst="roundRect">
            <a:avLst>
              <a:gd name="adj" fmla="val 36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10100" y="859036"/>
            <a:ext cx="211455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4400" y="992386"/>
            <a:ext cx="1923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5-6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24400" y="1297186"/>
            <a:ext cx="19236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724400" y="1679972"/>
            <a:ext cx="19236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Adapter, Google Calendar, Booking conflicts, Email fallback, Transcripts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24400" y="3876824"/>
            <a:ext cx="19236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Real bookings created</a:t>
            </a:r>
            <a:endParaRPr lang="en-US" sz="675" dirty="0"/>
          </a:p>
        </p:txBody>
      </p:sp>
      <p:pic>
        <p:nvPicPr>
          <p:cNvPr id="22" name="Image 0" descr="/tmp/rasterized-gradient-417f3d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839986"/>
            <a:ext cx="2114550" cy="3271093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915150" y="992386"/>
            <a:ext cx="1923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7-8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915150" y="1297186"/>
            <a:ext cx="19236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Ready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6915150" y="1679972"/>
            <a:ext cx="19236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dashboard, Transcript viewer, Audit logs, Kill switch, Latency optimization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915150" y="3876824"/>
            <a:ext cx="19236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Live call to booking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228600" y="4230142"/>
            <a:ext cx="6172200" cy="508546"/>
          </a:xfrm>
          <a:prstGeom prst="roundRect">
            <a:avLst>
              <a:gd name="adj" fmla="val 1123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23850" y="4325392"/>
            <a:ext cx="61013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23850" y="4496842"/>
            <a:ext cx="61013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Telephony + 1 Backend + 1 Conversation Design + 0.5 Frontend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6515100" y="4206329"/>
            <a:ext cx="1143000" cy="556171"/>
          </a:xfrm>
          <a:prstGeom prst="roundRect">
            <a:avLst>
              <a:gd name="adj" fmla="val 1027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600825" y="4301579"/>
            <a:ext cx="971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600825" y="4453979"/>
            <a:ext cx="9715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~560 hrs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772400" y="4210050"/>
            <a:ext cx="1143000" cy="548580"/>
          </a:xfrm>
          <a:prstGeom prst="roundRect">
            <a:avLst>
              <a:gd name="adj" fmla="val 10418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867841" y="4314825"/>
            <a:ext cx="952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867841" y="4467225"/>
            <a:ext cx="95211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weeks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Requirements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571500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live demo must demonstrate to close sales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28600" y="1313706"/>
            <a:ext cx="43525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CALL SCRIPT (3 MIN)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28600" y="1536502"/>
            <a:ext cx="4267200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3850" y="1631752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82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Greeting and Language Detection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23850" y="1797397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Bonjour, AI responds in French. Switch to English mid-call.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8600" y="2102197"/>
            <a:ext cx="4267200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3850" y="2197447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82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Book Appointment Flow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23850" y="2363093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appointment, AI offers 3 slots, caller picks, AI confirms.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2667893"/>
            <a:ext cx="4267200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3850" y="2763143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82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Calendar Verification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23850" y="2928789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Google Calendar on screen. Booking appears in real-time.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28600" y="3233589"/>
            <a:ext cx="4267200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3850" y="3328839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82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Safety Demo (Negative Path)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23850" y="3494484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medical advice. AI refuses and offers to take message.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8600" y="3799284"/>
            <a:ext cx="4267200" cy="489496"/>
          </a:xfrm>
          <a:prstGeom prst="roundRect">
            <a:avLst>
              <a:gd name="adj" fmla="val 11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3850" y="3894534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r>
              <a:rPr lang="en-US" sz="82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Dashboard Walkthrough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23850" y="4060180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transcript, intent log, booking audit, kill switch.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48200" y="1411635"/>
            <a:ext cx="43525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825" dirty="0"/>
          </a:p>
        </p:txBody>
      </p:sp>
      <p:pic>
        <p:nvPicPr>
          <p:cNvPr id="21" name="Image 0" descr="/tmp/rasterized-gradient-234668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634430"/>
            <a:ext cx="2095500" cy="68758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743831" y="1748730"/>
            <a:ext cx="190423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80%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743831" y="2087761"/>
            <a:ext cx="19042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Completion</a:t>
            </a:r>
            <a:endParaRPr lang="en-US" sz="675" dirty="0"/>
          </a:p>
        </p:txBody>
      </p:sp>
      <p:pic>
        <p:nvPicPr>
          <p:cNvPr id="24" name="Image 1" descr="/tmp/rasterized-gradient-fd234d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1634430"/>
            <a:ext cx="2095500" cy="68758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15531" y="1748730"/>
            <a:ext cx="190423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800ms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6915531" y="2087761"/>
            <a:ext cx="19042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Latency</a:t>
            </a:r>
            <a:endParaRPr lang="en-US" sz="675" dirty="0"/>
          </a:p>
        </p:txBody>
      </p:sp>
      <p:sp>
        <p:nvSpPr>
          <p:cNvPr id="27" name="Text 23"/>
          <p:cNvSpPr/>
          <p:nvPr/>
        </p:nvSpPr>
        <p:spPr>
          <a:xfrm>
            <a:off x="4648200" y="2398216"/>
            <a:ext cx="2095500" cy="687586"/>
          </a:xfrm>
          <a:prstGeom prst="roundRect">
            <a:avLst>
              <a:gd name="adj" fmla="val 83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743831" y="2512516"/>
            <a:ext cx="190423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4743831" y="2851547"/>
            <a:ext cx="19042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Advice Given</a:t>
            </a:r>
            <a:endParaRPr lang="en-US" sz="675" dirty="0"/>
          </a:p>
        </p:txBody>
      </p:sp>
      <p:sp>
        <p:nvSpPr>
          <p:cNvPr id="30" name="Text 26"/>
          <p:cNvSpPr/>
          <p:nvPr/>
        </p:nvSpPr>
        <p:spPr>
          <a:xfrm>
            <a:off x="6819900" y="2398216"/>
            <a:ext cx="2095500" cy="687586"/>
          </a:xfrm>
          <a:prstGeom prst="roundRect">
            <a:avLst>
              <a:gd name="adj" fmla="val 83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915531" y="2512516"/>
            <a:ext cx="190423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6915531" y="2851547"/>
            <a:ext cx="19042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Term Routing</a:t>
            </a:r>
            <a:endParaRPr lang="en-US" sz="675" dirty="0"/>
          </a:p>
        </p:txBody>
      </p:sp>
      <p:sp>
        <p:nvSpPr>
          <p:cNvPr id="33" name="Text 29"/>
          <p:cNvSpPr/>
          <p:nvPr/>
        </p:nvSpPr>
        <p:spPr>
          <a:xfrm>
            <a:off x="4648200" y="3162002"/>
            <a:ext cx="4267200" cy="647700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4743450" y="3257252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INFRASTRUCTURE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43450" y="3428702"/>
            <a:ext cx="41582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Canadian phone number (Twilio), Demo Google Calendar, Admin dashboard with real-time transcript, Test scripts FR/EN, Backup recorded video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4648200" y="3885902"/>
            <a:ext cx="4267200" cy="304800"/>
          </a:xfrm>
          <a:prstGeom prst="roundRect">
            <a:avLst>
              <a:gd name="adj" fmla="val 18750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733925" y="3971627"/>
            <a:ext cx="417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must work reliably 10/10 times. No "let me try again" moments.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571500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week setup checklist for the engineering team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28600" y="1219200"/>
            <a:ext cx="43525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1-3 SETUP TASKS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28600" y="1441996"/>
            <a:ext cx="4267200" cy="110490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3850" y="1537246"/>
            <a:ext cx="4158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Twilio account + buy Canadian phone number</a:t>
            </a:r>
            <a:endParaRPr lang="en-US" sz="7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Deepgram account + get API key</a:t>
            </a:r>
            <a:endParaRPr lang="en-US" sz="7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Azure Speech account + get API key</a:t>
            </a:r>
            <a:endParaRPr lang="en-US" sz="7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OpenAI account + get API key</a:t>
            </a:r>
            <a:endParaRPr lang="en-US" sz="7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Google Cloud project + enable Calendar API</a:t>
            </a:r>
            <a:endParaRPr lang="en-US" sz="7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up AWS ca-central-1 account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" y="2661196"/>
            <a:ext cx="43525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3-5 BOILERPLATE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28600" y="2883991"/>
            <a:ext cx="4267200" cy="110490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3850" y="2979241"/>
            <a:ext cx="4158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Node.js project with TypeScript</a:t>
            </a:r>
            <a:endParaRPr lang="en-US" sz="7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up Fastify server with WebSocket support</a:t>
            </a:r>
            <a:endParaRPr lang="en-US" sz="7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Configure Twilio webhook endpoints</a:t>
            </a:r>
            <a:endParaRPr lang="en-US" sz="7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basic media stream handling</a:t>
            </a:r>
            <a:endParaRPr lang="en-US" sz="7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up PostgreSQL + Redis on AWS</a:t>
            </a:r>
            <a:endParaRPr lang="en-US" sz="7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Configure logging (structured JSON to CloudWatch)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28600" y="4065091"/>
            <a:ext cx="4267200" cy="318046"/>
          </a:xfrm>
          <a:prstGeom prst="roundRect">
            <a:avLst>
              <a:gd name="adj" fmla="val 17969"/>
            </a:avLst>
          </a:prstGeom>
          <a:solidFill>
            <a:srgbClr val="0D9488">
              <a:alpha val="10000"/>
            </a:srgbClr>
          </a:solidFill>
          <a:ln w="9525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4325" y="4150816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Milestone: Call the demo number, hear audio, speak, see transcript in logs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48200" y="839986"/>
            <a:ext cx="43525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DOCUMENTATION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48200" y="1062782"/>
            <a:ext cx="4267200" cy="1000125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43450" y="1158032"/>
            <a:ext cx="4158234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Media Streams: twilio.com/docs/voice/media-streams</a:t>
            </a:r>
            <a:endParaRPr lang="en-US" sz="750" dirty="0"/>
          </a:p>
          <a:p>
            <a:pPr marL="0" indent="0" algn="l">
              <a:lnSpc>
                <a:spcPts val="12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Deepgram Streaming: developers.deepgram.com/docs/streaming</a:t>
            </a:r>
            <a:endParaRPr lang="en-US" sz="750" dirty="0"/>
          </a:p>
          <a:p>
            <a:pPr marL="0" indent="0" algn="l">
              <a:lnSpc>
                <a:spcPts val="12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TTS: learn.microsoft.com/azure/cognitive-services/speech</a:t>
            </a:r>
            <a:endParaRPr lang="en-US" sz="750" dirty="0"/>
          </a:p>
          <a:p>
            <a:pPr marL="0" indent="0" algn="l">
              <a:lnSpc>
                <a:spcPts val="12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OpenAI Function Calling: platform.openai.com/docs</a:t>
            </a:r>
            <a:endParaRPr lang="en-US" sz="750" dirty="0"/>
          </a:p>
          <a:p>
            <a:pPr marL="0" indent="0" algn="l">
              <a:lnSpc>
                <a:spcPts val="12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Calendar API: developers.google.com/calendar/api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48200" y="2177207"/>
            <a:ext cx="43525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IMPLEMENTATIONS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48200" y="2400002"/>
            <a:ext cx="4267200" cy="51435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43450" y="2495252"/>
            <a:ext cx="415823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github.com/twilio-labs/call-gpt (Twilio + GPT example)</a:t>
            </a:r>
            <a:endParaRPr lang="en-US" sz="750" dirty="0"/>
          </a:p>
          <a:p>
            <a:pPr marL="0" indent="0" algn="l">
              <a:lnSpc>
                <a:spcPts val="12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Study: Retell AI, Vapi, Bland.ai architectures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48200" y="2990552"/>
            <a:ext cx="4267200" cy="638175"/>
          </a:xfrm>
          <a:prstGeom prst="roundRect">
            <a:avLst>
              <a:gd name="adj" fmla="val 8955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52975" y="3095327"/>
            <a:ext cx="413880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budget is TIGHT — optimize everything</a:t>
            </a:r>
            <a:endParaRPr lang="en-US" sz="75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French ASR accuracy varies — test Quebec accents early</a:t>
            </a:r>
            <a:endParaRPr lang="en-US" sz="75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Twilio media streams require WebSocket expertise</a:t>
            </a:r>
            <a:endParaRPr lang="en-US" sz="750" dirty="0"/>
          </a:p>
        </p:txBody>
      </p:sp>
      <p:pic>
        <p:nvPicPr>
          <p:cNvPr id="20" name="Image 0" descr="/tmp/rasterized-gradient-f35f7f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4425404"/>
            <a:ext cx="4267200" cy="3370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743450" y="4520654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Blockers? Escalate immediately. Do not lose days.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MedVoice AI - Technical Specification</dc:title>
  <dc:subject>Bilingual AI Phone Receptionist for Medical Clinics</dc:subject>
  <dc:creator>AI Solutions</dc:creator>
  <cp:lastModifiedBy>AI Solutions</cp:lastModifiedBy>
  <cp:revision>4</cp:revision>
  <dcterms:created xsi:type="dcterms:W3CDTF">2026-01-04T22:57:37Z</dcterms:created>
  <dcterms:modified xsi:type="dcterms:W3CDTF">2026-01-04T23:16:17Z</dcterms:modified>
</cp:coreProperties>
</file>